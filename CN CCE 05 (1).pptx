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odoni FLF" charset="1" panose="02000606090000020003"/>
      <p:regular r:id="rId22"/>
    </p:embeddedFont>
    <p:embeddedFont>
      <p:font typeface="Fraunces Semi-Bold" charset="1" panose="00000000000000000000"/>
      <p:regular r:id="rId23"/>
    </p:embeddedFont>
    <p:embeddedFont>
      <p:font typeface="DM Sans" charset="1" panose="00000000000000000000"/>
      <p:regular r:id="rId24"/>
    </p:embeddedFont>
    <p:embeddedFont>
      <p:font typeface="Fraunces Heavy" charset="1" panose="00000000000000000000"/>
      <p:regular r:id="rId25"/>
    </p:embeddedFont>
    <p:embeddedFont>
      <p:font typeface="DM Sans Bold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6000" y="0"/>
            <a:ext cx="13716000" cy="10287000"/>
          </a:xfrm>
          <a:custGeom>
            <a:avLst/>
            <a:gdLst/>
            <a:ahLst/>
            <a:cxnLst/>
            <a:rect r="r" b="b" t="t" l="l"/>
            <a:pathLst>
              <a:path h="10287000" w="13716000">
                <a:moveTo>
                  <a:pt x="0" y="0"/>
                </a:moveTo>
                <a:lnTo>
                  <a:pt x="13716000" y="0"/>
                </a:lnTo>
                <a:lnTo>
                  <a:pt x="13716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78978" y="321455"/>
            <a:ext cx="11380047" cy="2464647"/>
            <a:chOff x="0" y="0"/>
            <a:chExt cx="10789971" cy="23368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789973" cy="2336853"/>
            </a:xfrm>
            <a:custGeom>
              <a:avLst/>
              <a:gdLst/>
              <a:ahLst/>
              <a:cxnLst/>
              <a:rect r="r" b="b" t="t" l="l"/>
              <a:pathLst>
                <a:path h="2336853" w="10789973">
                  <a:moveTo>
                    <a:pt x="0" y="0"/>
                  </a:moveTo>
                  <a:lnTo>
                    <a:pt x="10789973" y="0"/>
                  </a:lnTo>
                  <a:lnTo>
                    <a:pt x="10789973" y="2336853"/>
                  </a:lnTo>
                  <a:lnTo>
                    <a:pt x="0" y="23368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968" r="0" b="-3996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789971" cy="2374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5"/>
                </a:lnSpc>
              </a:pPr>
              <a:r>
                <a:rPr lang="en-US" sz="2429">
                  <a:solidFill>
                    <a:srgbClr val="000000"/>
                  </a:solidFill>
                  <a:latin typeface="Bodoni FLF"/>
                  <a:ea typeface="Bodoni FLF"/>
                  <a:cs typeface="Bodoni FLF"/>
                  <a:sym typeface="Bodoni FLF"/>
                </a:rPr>
                <a:t>  Mahavir Education Trust’s</a:t>
              </a:r>
            </a:p>
            <a:p>
              <a:pPr algn="ctr">
                <a:lnSpc>
                  <a:spcPts val="5021"/>
                </a:lnSpc>
              </a:pPr>
              <a:r>
                <a:rPr lang="en-US" sz="4184">
                  <a:solidFill>
                    <a:srgbClr val="000000"/>
                  </a:solidFill>
                  <a:latin typeface="Bodoni FLF"/>
                  <a:ea typeface="Bodoni FLF"/>
                  <a:cs typeface="Bodoni FLF"/>
                  <a:sym typeface="Bodoni FLF"/>
                </a:rPr>
                <a:t>Shah &amp; Anchor Kutchhi Engineering College</a:t>
              </a:r>
            </a:p>
            <a:p>
              <a:pPr algn="ctr">
                <a:lnSpc>
                  <a:spcPts val="2915"/>
                </a:lnSpc>
              </a:pPr>
              <a:r>
                <a:rPr lang="en-US" sz="2429">
                  <a:solidFill>
                    <a:srgbClr val="000000"/>
                  </a:solidFill>
                  <a:latin typeface="Bodoni FLF"/>
                  <a:ea typeface="Bodoni FLF"/>
                  <a:cs typeface="Bodoni FLF"/>
                  <a:sym typeface="Bodoni FLF"/>
                </a:rPr>
                <a:t>Chembur, Mumbai-400088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Bodoni FLF"/>
                  <a:ea typeface="Bodoni FLF"/>
                  <a:cs typeface="Bodoni FLF"/>
                  <a:sym typeface="Bodoni FLF"/>
                </a:rPr>
                <a:t>An Autonomous Institute Affiliated to University of Mumbai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86683" y="3335"/>
            <a:ext cx="637834" cy="10283678"/>
            <a:chOff x="0" y="0"/>
            <a:chExt cx="604761" cy="97504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4774" cy="9750425"/>
            </a:xfrm>
            <a:custGeom>
              <a:avLst/>
              <a:gdLst/>
              <a:ahLst/>
              <a:cxnLst/>
              <a:rect r="r" b="b" t="t" l="l"/>
              <a:pathLst>
                <a:path h="9750425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9750425"/>
                  </a:lnTo>
                  <a:lnTo>
                    <a:pt x="0" y="9750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0229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357522" y="8251058"/>
            <a:ext cx="1133472" cy="1604960"/>
            <a:chOff x="0" y="0"/>
            <a:chExt cx="1074699" cy="1521739"/>
          </a:xfrm>
        </p:grpSpPr>
        <p:sp>
          <p:nvSpPr>
            <p:cNvPr name="Freeform 9" id="9" descr="C:\Users\Mahesh Patil\Desktop\Red Color_Logo-With SM (1).png"/>
            <p:cNvSpPr/>
            <p:nvPr/>
          </p:nvSpPr>
          <p:spPr>
            <a:xfrm flipH="false" flipV="false" rot="0">
              <a:off x="0" y="0"/>
              <a:ext cx="1074674" cy="1521714"/>
            </a:xfrm>
            <a:custGeom>
              <a:avLst/>
              <a:gdLst/>
              <a:ahLst/>
              <a:cxnLst/>
              <a:rect r="r" b="b" t="t" l="l"/>
              <a:pathLst>
                <a:path h="1521714" w="1074674">
                  <a:moveTo>
                    <a:pt x="0" y="0"/>
                  </a:moveTo>
                  <a:lnTo>
                    <a:pt x="1074674" y="0"/>
                  </a:lnTo>
                  <a:lnTo>
                    <a:pt x="1074674" y="1521714"/>
                  </a:lnTo>
                  <a:lnTo>
                    <a:pt x="0" y="152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77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893330" y="2984543"/>
            <a:ext cx="10501353" cy="4792617"/>
            <a:chOff x="0" y="0"/>
            <a:chExt cx="9956838" cy="4544111"/>
          </a:xfrm>
        </p:grpSpPr>
        <p:sp>
          <p:nvSpPr>
            <p:cNvPr name="Freeform 11" id="11" descr="C:\Users\Mahesh Patil\Desktop\PICS\photo\College.jpg"/>
            <p:cNvSpPr/>
            <p:nvPr/>
          </p:nvSpPr>
          <p:spPr>
            <a:xfrm flipH="false" flipV="false" rot="0">
              <a:off x="0" y="0"/>
              <a:ext cx="9956800" cy="4544060"/>
            </a:xfrm>
            <a:custGeom>
              <a:avLst/>
              <a:gdLst/>
              <a:ahLst/>
              <a:cxnLst/>
              <a:rect r="r" b="b" t="t" l="l"/>
              <a:pathLst>
                <a:path h="4544060" w="9956800">
                  <a:moveTo>
                    <a:pt x="0" y="0"/>
                  </a:moveTo>
                  <a:lnTo>
                    <a:pt x="9956800" y="0"/>
                  </a:lnTo>
                  <a:lnTo>
                    <a:pt x="9956800" y="4544060"/>
                  </a:lnTo>
                  <a:lnTo>
                    <a:pt x="0" y="4544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0099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507075" y="5505392"/>
            <a:ext cx="6179809" cy="3382041"/>
          </a:xfrm>
          <a:custGeom>
            <a:avLst/>
            <a:gdLst/>
            <a:ahLst/>
            <a:cxnLst/>
            <a:rect r="r" b="b" t="t" l="l"/>
            <a:pathLst>
              <a:path h="3382041" w="6179809">
                <a:moveTo>
                  <a:pt x="0" y="0"/>
                </a:moveTo>
                <a:lnTo>
                  <a:pt x="6179809" y="0"/>
                </a:lnTo>
                <a:lnTo>
                  <a:pt x="6179809" y="3382041"/>
                </a:lnTo>
                <a:lnTo>
                  <a:pt x="0" y="3382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993519" y="2837508"/>
            <a:ext cx="8028708" cy="285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true">
                <a:solidFill>
                  <a:srgbClr val="2D2D2D"/>
                </a:solidFill>
                <a:latin typeface="Fraunces Semi-Bold"/>
                <a:ea typeface="Fraunces Semi-Bold"/>
                <a:cs typeface="Fraunces Semi-Bold"/>
                <a:sym typeface="Fraunces Semi-Bold"/>
              </a:rPr>
              <a:t>Design, Analyze and Demonstrate a Practical WAN Solution for Banking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93519" y="6499241"/>
            <a:ext cx="4653540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Presented By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Name- Srushti Badgujar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Roll Number- 05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Class-SY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27762" y="9258300"/>
            <a:ext cx="1060238" cy="1028700"/>
            <a:chOff x="0" y="0"/>
            <a:chExt cx="523379" cy="507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507811"/>
            </a:xfrm>
            <a:custGeom>
              <a:avLst/>
              <a:gdLst/>
              <a:ahLst/>
              <a:cxnLst/>
              <a:rect r="r" b="b" t="t" l="l"/>
              <a:pathLst>
                <a:path h="507811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507811"/>
                  </a:lnTo>
                  <a:lnTo>
                    <a:pt x="0" y="50781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true" rot="0">
            <a:off x="12686811" y="8118609"/>
            <a:ext cx="2216016" cy="2216016"/>
          </a:xfrm>
          <a:custGeom>
            <a:avLst/>
            <a:gdLst/>
            <a:ahLst/>
            <a:cxnLst/>
            <a:rect r="r" b="b" t="t" l="l"/>
            <a:pathLst>
              <a:path h="2216016" w="2216016">
                <a:moveTo>
                  <a:pt x="0" y="2216016"/>
                </a:moveTo>
                <a:lnTo>
                  <a:pt x="2216016" y="2216016"/>
                </a:lnTo>
                <a:lnTo>
                  <a:pt x="2216016" y="0"/>
                </a:lnTo>
                <a:lnTo>
                  <a:pt x="0" y="0"/>
                </a:lnTo>
                <a:lnTo>
                  <a:pt x="0" y="22160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14902827" y="2981483"/>
            <a:ext cx="4512899" cy="4488283"/>
          </a:xfrm>
          <a:custGeom>
            <a:avLst/>
            <a:gdLst/>
            <a:ahLst/>
            <a:cxnLst/>
            <a:rect r="r" b="b" t="t" l="l"/>
            <a:pathLst>
              <a:path h="4488283" w="4512899">
                <a:moveTo>
                  <a:pt x="0" y="0"/>
                </a:moveTo>
                <a:lnTo>
                  <a:pt x="4512899" y="0"/>
                </a:lnTo>
                <a:lnTo>
                  <a:pt x="4512899" y="4488283"/>
                </a:lnTo>
                <a:lnTo>
                  <a:pt x="0" y="4488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93519" y="1888817"/>
            <a:ext cx="684880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D2D2D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3519" y="2943225"/>
            <a:ext cx="8028708" cy="739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99"/>
              </a:lnSpc>
            </a:pPr>
            <a:r>
              <a:rPr lang="en-US" b="true" sz="3199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Eng</a:t>
            </a:r>
            <a:r>
              <a:rPr lang="en-US" b="true" sz="3199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ineering Challenge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Modern banks require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Secure communication between branches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Fast transaction processing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High network availability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Protection against cyber attacks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Scalable infrastructure for future expansion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Existing Problems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Slow WAN links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Data interception risks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Single point of failure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High downtime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Limited scalability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371077" y="9465628"/>
            <a:ext cx="773608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0DDAA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27762" y="9258300"/>
            <a:ext cx="1060238" cy="1028700"/>
            <a:chOff x="0" y="0"/>
            <a:chExt cx="523379" cy="507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507811"/>
            </a:xfrm>
            <a:custGeom>
              <a:avLst/>
              <a:gdLst/>
              <a:ahLst/>
              <a:cxnLst/>
              <a:rect r="r" b="b" t="t" l="l"/>
              <a:pathLst>
                <a:path h="507811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507811"/>
                  </a:lnTo>
                  <a:lnTo>
                    <a:pt x="0" y="50781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9175" y="4434502"/>
            <a:ext cx="2552229" cy="4112372"/>
          </a:xfrm>
          <a:custGeom>
            <a:avLst/>
            <a:gdLst/>
            <a:ahLst/>
            <a:cxnLst/>
            <a:rect r="r" b="b" t="t" l="l"/>
            <a:pathLst>
              <a:path h="4112372" w="2552229">
                <a:moveTo>
                  <a:pt x="0" y="0"/>
                </a:moveTo>
                <a:lnTo>
                  <a:pt x="2552229" y="0"/>
                </a:lnTo>
                <a:lnTo>
                  <a:pt x="2552229" y="4112371"/>
                </a:lnTo>
                <a:lnTo>
                  <a:pt x="0" y="41123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4787" t="-59" r="0" b="0"/>
            </a:stretch>
          </a:blipFill>
        </p:spPr>
      </p:sp>
      <p:sp>
        <p:nvSpPr>
          <p:cNvPr name="AutoShape 6" id="6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488158" y="1542227"/>
            <a:ext cx="3789522" cy="3803353"/>
          </a:xfrm>
          <a:custGeom>
            <a:avLst/>
            <a:gdLst/>
            <a:ahLst/>
            <a:cxnLst/>
            <a:rect r="r" b="b" t="t" l="l"/>
            <a:pathLst>
              <a:path h="3803353" w="3789522">
                <a:moveTo>
                  <a:pt x="0" y="0"/>
                </a:moveTo>
                <a:lnTo>
                  <a:pt x="3789523" y="0"/>
                </a:lnTo>
                <a:lnTo>
                  <a:pt x="3789523" y="3803353"/>
                </a:lnTo>
                <a:lnTo>
                  <a:pt x="0" y="3803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371077" y="9465628"/>
            <a:ext cx="773608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0DDAA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82962" y="3348654"/>
            <a:ext cx="7122076" cy="583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49"/>
              </a:lnSpc>
            </a:pPr>
            <a:r>
              <a:rPr lang="en-US" b="true" sz="3299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Pr</a:t>
            </a:r>
            <a:r>
              <a:rPr lang="en-US" b="true" sz="3299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oject Objectives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Design a WAN that provides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Secure communication between branches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Reliable connectivity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Fast transaction processing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Centralized banking database access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Easy scalability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High availability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Secure customer information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196522" y="1888817"/>
            <a:ext cx="684880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D2D2D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 Objectives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27762" y="9258300"/>
            <a:ext cx="1060238" cy="1028700"/>
            <a:chOff x="0" y="0"/>
            <a:chExt cx="523379" cy="507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507811"/>
            </a:xfrm>
            <a:custGeom>
              <a:avLst/>
              <a:gdLst/>
              <a:ahLst/>
              <a:cxnLst/>
              <a:rect r="r" b="b" t="t" l="l"/>
              <a:pathLst>
                <a:path h="507811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507811"/>
                  </a:lnTo>
                  <a:lnTo>
                    <a:pt x="0" y="50781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3938" y="4650105"/>
            <a:ext cx="1593840" cy="4608195"/>
          </a:xfrm>
          <a:custGeom>
            <a:avLst/>
            <a:gdLst/>
            <a:ahLst/>
            <a:cxnLst/>
            <a:rect r="r" b="b" t="t" l="l"/>
            <a:pathLst>
              <a:path h="4608195" w="1593840">
                <a:moveTo>
                  <a:pt x="0" y="0"/>
                </a:moveTo>
                <a:lnTo>
                  <a:pt x="1593840" y="0"/>
                </a:lnTo>
                <a:lnTo>
                  <a:pt x="1593840" y="4608195"/>
                </a:lnTo>
                <a:lnTo>
                  <a:pt x="0" y="4608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8719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95192" y="1422424"/>
            <a:ext cx="941918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D2D2D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Proposed WAN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71077" y="9465628"/>
            <a:ext cx="773608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0DDAA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69386" y="2676265"/>
            <a:ext cx="4681211" cy="31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Network Design</a:t>
            </a: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Include Draw.io or Packet Tracer Diagram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198271" y="2647690"/>
            <a:ext cx="7032202" cy="789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9"/>
              </a:lnSpc>
            </a:pP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Network Design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Include Draw.io or Packet Tracer Diagram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Components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Head Office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Branch Office 1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Branch Office 2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ISP Cloud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Core Router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Branch Routers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Layer-2 Switches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PCs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Banking Server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DNS Server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Web Server</a:t>
            </a:r>
          </a:p>
          <a:p>
            <a:pPr algn="just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27762" y="9258300"/>
            <a:ext cx="1060238" cy="1028700"/>
            <a:chOff x="0" y="0"/>
            <a:chExt cx="523379" cy="507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507811"/>
            </a:xfrm>
            <a:custGeom>
              <a:avLst/>
              <a:gdLst/>
              <a:ahLst/>
              <a:cxnLst/>
              <a:rect r="r" b="b" t="t" l="l"/>
              <a:pathLst>
                <a:path h="507811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507811"/>
                  </a:lnTo>
                  <a:lnTo>
                    <a:pt x="0" y="50781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3938" y="4650105"/>
            <a:ext cx="1593840" cy="4608195"/>
          </a:xfrm>
          <a:custGeom>
            <a:avLst/>
            <a:gdLst/>
            <a:ahLst/>
            <a:cxnLst/>
            <a:rect r="r" b="b" t="t" l="l"/>
            <a:pathLst>
              <a:path h="4608195" w="1593840">
                <a:moveTo>
                  <a:pt x="0" y="0"/>
                </a:moveTo>
                <a:lnTo>
                  <a:pt x="1593840" y="0"/>
                </a:lnTo>
                <a:lnTo>
                  <a:pt x="1593840" y="4608195"/>
                </a:lnTo>
                <a:lnTo>
                  <a:pt x="0" y="4608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8719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95192" y="1422424"/>
            <a:ext cx="941918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D2D2D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Proposed WAN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71077" y="9465628"/>
            <a:ext cx="773608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0DDAA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69386" y="2676265"/>
            <a:ext cx="4681211" cy="31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Network Design</a:t>
            </a: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Include Draw.io or Packet Tracer Diagram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198271" y="2503310"/>
            <a:ext cx="7032202" cy="806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9"/>
              </a:lnSpc>
            </a:pPr>
            <a:r>
              <a:rPr lang="en-US" sz="3099" b="true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Technologies Used</a:t>
            </a:r>
          </a:p>
          <a:p>
            <a:pPr algn="just" marL="669288" indent="-334644" lvl="1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IP Addressing</a:t>
            </a:r>
          </a:p>
          <a:p>
            <a:pPr algn="just" marL="669288" indent="-334644" lvl="1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Static Routing / OSPF</a:t>
            </a:r>
          </a:p>
          <a:p>
            <a:pPr algn="just" marL="669288" indent="-334644" lvl="1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DHCP</a:t>
            </a:r>
          </a:p>
          <a:p>
            <a:pPr algn="just" marL="669288" indent="-334644" lvl="1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Access Control Lists (ACLs)</a:t>
            </a:r>
          </a:p>
          <a:p>
            <a:pPr algn="just" marL="669288" indent="-334644" lvl="1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Netwo</a:t>
            </a: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rk Address Translation (NAT)</a:t>
            </a:r>
          </a:p>
          <a:p>
            <a:pPr algn="just" marL="669288" indent="-334644" lvl="1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PN (Concept)</a:t>
            </a:r>
          </a:p>
          <a:p>
            <a:pPr algn="just">
              <a:lnSpc>
                <a:spcPts val="4649"/>
              </a:lnSpc>
            </a:pPr>
            <a:r>
              <a:rPr lang="en-US" sz="3099" b="true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Benefits</a:t>
            </a:r>
          </a:p>
          <a:p>
            <a:pPr algn="just" marL="669288" indent="-334644" lvl="1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entralized management</a:t>
            </a:r>
          </a:p>
          <a:p>
            <a:pPr algn="just" marL="669288" indent="-334644" lvl="1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Secure communication</a:t>
            </a:r>
          </a:p>
          <a:p>
            <a:pPr algn="just" marL="669288" indent="-334644" lvl="1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eliable connectivity</a:t>
            </a:r>
          </a:p>
          <a:p>
            <a:pPr algn="just" marL="669288" indent="-334644" lvl="1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Easy maintenance</a:t>
            </a:r>
          </a:p>
          <a:p>
            <a:pPr algn="just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27762" y="9258300"/>
            <a:ext cx="1060238" cy="1028700"/>
            <a:chOff x="0" y="0"/>
            <a:chExt cx="523379" cy="507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507811"/>
            </a:xfrm>
            <a:custGeom>
              <a:avLst/>
              <a:gdLst/>
              <a:ahLst/>
              <a:cxnLst/>
              <a:rect r="r" b="b" t="t" l="l"/>
              <a:pathLst>
                <a:path h="507811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507811"/>
                  </a:lnTo>
                  <a:lnTo>
                    <a:pt x="0" y="50781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481367" y="1316310"/>
            <a:ext cx="6078969" cy="3961462"/>
          </a:xfrm>
          <a:custGeom>
            <a:avLst/>
            <a:gdLst/>
            <a:ahLst/>
            <a:cxnLst/>
            <a:rect r="r" b="b" t="t" l="l"/>
            <a:pathLst>
              <a:path h="3961462" w="6078969">
                <a:moveTo>
                  <a:pt x="0" y="0"/>
                </a:moveTo>
                <a:lnTo>
                  <a:pt x="6078969" y="0"/>
                </a:lnTo>
                <a:lnTo>
                  <a:pt x="6078969" y="3961462"/>
                </a:lnTo>
                <a:lnTo>
                  <a:pt x="0" y="3961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36681" y="5689379"/>
            <a:ext cx="4046666" cy="3842924"/>
          </a:xfrm>
          <a:custGeom>
            <a:avLst/>
            <a:gdLst/>
            <a:ahLst/>
            <a:cxnLst/>
            <a:rect r="r" b="b" t="t" l="l"/>
            <a:pathLst>
              <a:path h="3842924" w="4046666">
                <a:moveTo>
                  <a:pt x="0" y="0"/>
                </a:moveTo>
                <a:lnTo>
                  <a:pt x="4046666" y="0"/>
                </a:lnTo>
                <a:lnTo>
                  <a:pt x="4046666" y="3842924"/>
                </a:lnTo>
                <a:lnTo>
                  <a:pt x="0" y="38429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93519" y="1221060"/>
            <a:ext cx="8827389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D2D2D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Practical Implementation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3519" y="2251665"/>
            <a:ext cx="8028708" cy="806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49"/>
              </a:lnSpc>
            </a:pP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isco Packet Tracer Demonstration</a:t>
            </a:r>
          </a:p>
          <a:p>
            <a:pPr algn="just">
              <a:lnSpc>
                <a:spcPts val="4349"/>
              </a:lnSpc>
            </a:pP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Configu</a:t>
            </a: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ration Performed</a:t>
            </a:r>
          </a:p>
          <a:p>
            <a:pPr algn="just" marL="626109" indent="-313054" lvl="1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Configured routers and switches</a:t>
            </a:r>
          </a:p>
          <a:p>
            <a:pPr algn="just" marL="626109" indent="-313054" lvl="1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ssigned IP addresses</a:t>
            </a:r>
          </a:p>
          <a:p>
            <a:pPr algn="just" marL="626109" indent="-313054" lvl="1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Configured routing</a:t>
            </a:r>
          </a:p>
          <a:p>
            <a:pPr algn="just" marL="626109" indent="-313054" lvl="1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Enabled DHCP</a:t>
            </a:r>
          </a:p>
          <a:p>
            <a:pPr algn="just" marL="626109" indent="-313054" lvl="1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Tested connectivity using Ping</a:t>
            </a:r>
          </a:p>
          <a:p>
            <a:pPr algn="just" marL="626109" indent="-313054" lvl="1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Connected all branches to the head office</a:t>
            </a:r>
          </a:p>
          <a:p>
            <a:pPr algn="just">
              <a:lnSpc>
                <a:spcPts val="4349"/>
              </a:lnSpc>
            </a:pP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Ver</a:t>
            </a: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ification</a:t>
            </a:r>
          </a:p>
          <a:p>
            <a:pPr algn="just" marL="626109" indent="-313054" lvl="1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Successful communication between branches</a:t>
            </a:r>
          </a:p>
          <a:p>
            <a:pPr algn="just" marL="626109" indent="-313054" lvl="1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Server accessible from all locations</a:t>
            </a:r>
          </a:p>
          <a:p>
            <a:pPr algn="just" marL="626109" indent="-313054" lvl="1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No packet loss during testing</a:t>
            </a:r>
          </a:p>
          <a:p>
            <a:pPr algn="just">
              <a:lnSpc>
                <a:spcPts val="4349"/>
              </a:lnSpc>
            </a:pPr>
            <a:r>
              <a:rPr lang="en-US" sz="28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Video Link: https://youtu.be/zMLtAR2WwXE</a:t>
            </a:r>
          </a:p>
          <a:p>
            <a:pPr algn="just">
              <a:lnSpc>
                <a:spcPts val="375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371077" y="9465628"/>
            <a:ext cx="773608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0DDAA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27762" y="9258300"/>
            <a:ext cx="1060238" cy="1028700"/>
            <a:chOff x="0" y="0"/>
            <a:chExt cx="523379" cy="507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507811"/>
            </a:xfrm>
            <a:custGeom>
              <a:avLst/>
              <a:gdLst/>
              <a:ahLst/>
              <a:cxnLst/>
              <a:rect r="r" b="b" t="t" l="l"/>
              <a:pathLst>
                <a:path h="507811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507811"/>
                  </a:lnTo>
                  <a:lnTo>
                    <a:pt x="0" y="50781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true" rot="0">
            <a:off x="12686811" y="8118609"/>
            <a:ext cx="2216016" cy="2216016"/>
          </a:xfrm>
          <a:custGeom>
            <a:avLst/>
            <a:gdLst/>
            <a:ahLst/>
            <a:cxnLst/>
            <a:rect r="r" b="b" t="t" l="l"/>
            <a:pathLst>
              <a:path h="2216016" w="2216016">
                <a:moveTo>
                  <a:pt x="0" y="2216016"/>
                </a:moveTo>
                <a:lnTo>
                  <a:pt x="2216016" y="2216016"/>
                </a:lnTo>
                <a:lnTo>
                  <a:pt x="2216016" y="0"/>
                </a:lnTo>
                <a:lnTo>
                  <a:pt x="0" y="0"/>
                </a:lnTo>
                <a:lnTo>
                  <a:pt x="0" y="22160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14902827" y="2981483"/>
            <a:ext cx="4512899" cy="4488283"/>
          </a:xfrm>
          <a:custGeom>
            <a:avLst/>
            <a:gdLst/>
            <a:ahLst/>
            <a:cxnLst/>
            <a:rect r="r" b="b" t="t" l="l"/>
            <a:pathLst>
              <a:path h="4488283" w="4512899">
                <a:moveTo>
                  <a:pt x="0" y="0"/>
                </a:moveTo>
                <a:lnTo>
                  <a:pt x="4512899" y="0"/>
                </a:lnTo>
                <a:lnTo>
                  <a:pt x="4512899" y="4488283"/>
                </a:lnTo>
                <a:lnTo>
                  <a:pt x="0" y="4488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93519" y="1186143"/>
            <a:ext cx="910476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D2D2D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Network Traffic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3519" y="2197698"/>
            <a:ext cx="8028708" cy="848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0"/>
              </a:lnSpc>
            </a:pP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ireshark Packet Analysis</a:t>
            </a:r>
          </a:p>
          <a:p>
            <a:pPr algn="just">
              <a:lnSpc>
                <a:spcPts val="3750"/>
              </a:lnSpc>
            </a:pP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Wir</a:t>
            </a: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eshark was used to observe network communication and verify successful packet transmission.</a:t>
            </a:r>
          </a:p>
          <a:p>
            <a:pPr algn="just">
              <a:lnSpc>
                <a:spcPts val="3750"/>
              </a:lnSpc>
            </a:pP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Cap</a:t>
            </a: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tured Protocols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ARP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ICMP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DNS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TCP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HTTP</a:t>
            </a:r>
          </a:p>
          <a:p>
            <a:pPr algn="just">
              <a:lnSpc>
                <a:spcPts val="3750"/>
              </a:lnSpc>
            </a:pP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Analysis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ARP resolved MAC addresses.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ICMP confirmed connectivity.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DNS resolved server names.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TCP</a:t>
            </a: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 ensured reliable communication.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HTTP demonstrated successful access to banking services.</a:t>
            </a:r>
          </a:p>
          <a:p>
            <a:pPr algn="just">
              <a:lnSpc>
                <a:spcPts val="315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371077" y="9465628"/>
            <a:ext cx="773608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0DDAA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27762" y="9258300"/>
            <a:ext cx="1060238" cy="1028700"/>
            <a:chOff x="0" y="0"/>
            <a:chExt cx="523379" cy="507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507811"/>
            </a:xfrm>
            <a:custGeom>
              <a:avLst/>
              <a:gdLst/>
              <a:ahLst/>
              <a:cxnLst/>
              <a:rect r="r" b="b" t="t" l="l"/>
              <a:pathLst>
                <a:path h="507811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507811"/>
                  </a:lnTo>
                  <a:lnTo>
                    <a:pt x="0" y="50781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true" rot="0">
            <a:off x="12686811" y="8118609"/>
            <a:ext cx="2216016" cy="2216016"/>
          </a:xfrm>
          <a:custGeom>
            <a:avLst/>
            <a:gdLst/>
            <a:ahLst/>
            <a:cxnLst/>
            <a:rect r="r" b="b" t="t" l="l"/>
            <a:pathLst>
              <a:path h="2216016" w="2216016">
                <a:moveTo>
                  <a:pt x="0" y="2216016"/>
                </a:moveTo>
                <a:lnTo>
                  <a:pt x="2216016" y="2216016"/>
                </a:lnTo>
                <a:lnTo>
                  <a:pt x="2216016" y="0"/>
                </a:lnTo>
                <a:lnTo>
                  <a:pt x="0" y="0"/>
                </a:lnTo>
                <a:lnTo>
                  <a:pt x="0" y="22160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14902827" y="2981483"/>
            <a:ext cx="4512899" cy="4488283"/>
          </a:xfrm>
          <a:custGeom>
            <a:avLst/>
            <a:gdLst/>
            <a:ahLst/>
            <a:cxnLst/>
            <a:rect r="r" b="b" t="t" l="l"/>
            <a:pathLst>
              <a:path h="4488283" w="4512899">
                <a:moveTo>
                  <a:pt x="0" y="0"/>
                </a:moveTo>
                <a:lnTo>
                  <a:pt x="4512899" y="0"/>
                </a:lnTo>
                <a:lnTo>
                  <a:pt x="4512899" y="4488283"/>
                </a:lnTo>
                <a:lnTo>
                  <a:pt x="0" y="4488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93519" y="1186143"/>
            <a:ext cx="910476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D2D2D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Performance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3519" y="2197698"/>
            <a:ext cx="8028708" cy="829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Pe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rf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ormance Evaluation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Parameters Evaluated:</a:t>
            </a:r>
          </a:p>
          <a:p>
            <a:pPr algn="just">
              <a:lnSpc>
                <a:spcPts val="4199"/>
              </a:lnSpc>
            </a:pPr>
            <a:r>
              <a:rPr lang="en-US" b="true" sz="2799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Parameter                   Result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Connectivity               Excellent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Latency                       Low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Packet Loss                Minimal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Throughput                High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Reliability                    High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b="true" sz="2799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Observations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Stable communication between branches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Fast response time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Efficient packet delivery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Continuous banking services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36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371077" y="9465628"/>
            <a:ext cx="773608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0DDAA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27762" y="9258300"/>
            <a:ext cx="1060238" cy="1028700"/>
            <a:chOff x="0" y="0"/>
            <a:chExt cx="523379" cy="507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507811"/>
            </a:xfrm>
            <a:custGeom>
              <a:avLst/>
              <a:gdLst/>
              <a:ahLst/>
              <a:cxnLst/>
              <a:rect r="r" b="b" t="t" l="l"/>
              <a:pathLst>
                <a:path h="507811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507811"/>
                  </a:lnTo>
                  <a:lnTo>
                    <a:pt x="0" y="50781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true" rot="0">
            <a:off x="12686811" y="8118609"/>
            <a:ext cx="2216016" cy="2216016"/>
          </a:xfrm>
          <a:custGeom>
            <a:avLst/>
            <a:gdLst/>
            <a:ahLst/>
            <a:cxnLst/>
            <a:rect r="r" b="b" t="t" l="l"/>
            <a:pathLst>
              <a:path h="2216016" w="2216016">
                <a:moveTo>
                  <a:pt x="0" y="2216016"/>
                </a:moveTo>
                <a:lnTo>
                  <a:pt x="2216016" y="2216016"/>
                </a:lnTo>
                <a:lnTo>
                  <a:pt x="2216016" y="0"/>
                </a:lnTo>
                <a:lnTo>
                  <a:pt x="0" y="0"/>
                </a:lnTo>
                <a:lnTo>
                  <a:pt x="0" y="22160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14902827" y="2981483"/>
            <a:ext cx="4512899" cy="4488283"/>
          </a:xfrm>
          <a:custGeom>
            <a:avLst/>
            <a:gdLst/>
            <a:ahLst/>
            <a:cxnLst/>
            <a:rect r="r" b="b" t="t" l="l"/>
            <a:pathLst>
              <a:path h="4488283" w="4512899">
                <a:moveTo>
                  <a:pt x="0" y="0"/>
                </a:moveTo>
                <a:lnTo>
                  <a:pt x="4512899" y="0"/>
                </a:lnTo>
                <a:lnTo>
                  <a:pt x="4512899" y="4488283"/>
                </a:lnTo>
                <a:lnTo>
                  <a:pt x="0" y="4488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93519" y="1186143"/>
            <a:ext cx="910476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D2D2D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Security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3519" y="2197698"/>
            <a:ext cx="8028708" cy="7244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etw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ork Security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Secu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rity measures implemented include: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N fo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 s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cur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 b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anch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comm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nica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ion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Access 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Control Lists (ACLs)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Router authentication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Password-protected devices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Firewall (conceptual)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etwork segm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nt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ation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Advan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tages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Protects customer information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Prevents unauthorized access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Secu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res online transactions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Improves overall network security</a:t>
            </a:r>
          </a:p>
          <a:p>
            <a:pPr algn="just">
              <a:lnSpc>
                <a:spcPts val="36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371077" y="9465628"/>
            <a:ext cx="773608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0DDAA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27762" y="9258300"/>
            <a:ext cx="1060238" cy="1028700"/>
            <a:chOff x="0" y="0"/>
            <a:chExt cx="523379" cy="507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507811"/>
            </a:xfrm>
            <a:custGeom>
              <a:avLst/>
              <a:gdLst/>
              <a:ahLst/>
              <a:cxnLst/>
              <a:rect r="r" b="b" t="t" l="l"/>
              <a:pathLst>
                <a:path h="507811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507811"/>
                  </a:lnTo>
                  <a:lnTo>
                    <a:pt x="0" y="50781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true" rot="0">
            <a:off x="12686811" y="8118609"/>
            <a:ext cx="2216016" cy="2216016"/>
          </a:xfrm>
          <a:custGeom>
            <a:avLst/>
            <a:gdLst/>
            <a:ahLst/>
            <a:cxnLst/>
            <a:rect r="r" b="b" t="t" l="l"/>
            <a:pathLst>
              <a:path h="2216016" w="2216016">
                <a:moveTo>
                  <a:pt x="0" y="2216016"/>
                </a:moveTo>
                <a:lnTo>
                  <a:pt x="2216016" y="2216016"/>
                </a:lnTo>
                <a:lnTo>
                  <a:pt x="2216016" y="0"/>
                </a:lnTo>
                <a:lnTo>
                  <a:pt x="0" y="0"/>
                </a:lnTo>
                <a:lnTo>
                  <a:pt x="0" y="22160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14902827" y="2981483"/>
            <a:ext cx="4512899" cy="4488283"/>
          </a:xfrm>
          <a:custGeom>
            <a:avLst/>
            <a:gdLst/>
            <a:ahLst/>
            <a:cxnLst/>
            <a:rect r="r" b="b" t="t" l="l"/>
            <a:pathLst>
              <a:path h="4488283" w="4512899">
                <a:moveTo>
                  <a:pt x="0" y="0"/>
                </a:moveTo>
                <a:lnTo>
                  <a:pt x="4512899" y="0"/>
                </a:lnTo>
                <a:lnTo>
                  <a:pt x="4512899" y="4488283"/>
                </a:lnTo>
                <a:lnTo>
                  <a:pt x="0" y="4488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93519" y="1186143"/>
            <a:ext cx="910476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D2D2D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SDG 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3519" y="2197698"/>
            <a:ext cx="8028708" cy="619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Supp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orting Sustainabl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 Development Goal 8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The proposed WAN solution contributes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 to SDG 8 – D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ent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 Wo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rk 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and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 E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conomic Growth by: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Enabling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reliable digital banking infrastructure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Supporting secure online financial services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Reducing op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eration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al down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time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Imp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roving customer satisfaction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upporting b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siness expansion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Creating opportunities for digital employment</a:t>
            </a:r>
          </a:p>
          <a:p>
            <a:pPr algn="just">
              <a:lnSpc>
                <a:spcPts val="36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371077" y="9465628"/>
            <a:ext cx="773608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0DDAA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27762" y="9258300"/>
            <a:ext cx="1060238" cy="1028700"/>
            <a:chOff x="0" y="0"/>
            <a:chExt cx="523379" cy="507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507811"/>
            </a:xfrm>
            <a:custGeom>
              <a:avLst/>
              <a:gdLst/>
              <a:ahLst/>
              <a:cxnLst/>
              <a:rect r="r" b="b" t="t" l="l"/>
              <a:pathLst>
                <a:path h="507811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507811"/>
                  </a:lnTo>
                  <a:lnTo>
                    <a:pt x="0" y="50781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true" rot="0">
            <a:off x="12686811" y="8118609"/>
            <a:ext cx="2216016" cy="2216016"/>
          </a:xfrm>
          <a:custGeom>
            <a:avLst/>
            <a:gdLst/>
            <a:ahLst/>
            <a:cxnLst/>
            <a:rect r="r" b="b" t="t" l="l"/>
            <a:pathLst>
              <a:path h="2216016" w="2216016">
                <a:moveTo>
                  <a:pt x="0" y="2216016"/>
                </a:moveTo>
                <a:lnTo>
                  <a:pt x="2216016" y="2216016"/>
                </a:lnTo>
                <a:lnTo>
                  <a:pt x="2216016" y="0"/>
                </a:lnTo>
                <a:lnTo>
                  <a:pt x="0" y="0"/>
                </a:lnTo>
                <a:lnTo>
                  <a:pt x="0" y="22160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14902827" y="2981483"/>
            <a:ext cx="4512899" cy="4488283"/>
          </a:xfrm>
          <a:custGeom>
            <a:avLst/>
            <a:gdLst/>
            <a:ahLst/>
            <a:cxnLst/>
            <a:rect r="r" b="b" t="t" l="l"/>
            <a:pathLst>
              <a:path h="4488283" w="4512899">
                <a:moveTo>
                  <a:pt x="0" y="0"/>
                </a:moveTo>
                <a:lnTo>
                  <a:pt x="4512899" y="0"/>
                </a:lnTo>
                <a:lnTo>
                  <a:pt x="4512899" y="4488283"/>
                </a:lnTo>
                <a:lnTo>
                  <a:pt x="0" y="4488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93519" y="1186143"/>
            <a:ext cx="910476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D2D2D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3519" y="2197698"/>
            <a:ext cx="8028708" cy="78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onclusion</a:t>
            </a:r>
          </a:p>
          <a:p>
            <a:pPr algn="just">
              <a:lnSpc>
                <a:spcPts val="3900"/>
              </a:lnSpc>
            </a:pP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The proposed WAN solution successfully addresses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 the networking requir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ements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 of mode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rn b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anking by providing:</a:t>
            </a:r>
          </a:p>
          <a:p>
            <a:pPr algn="just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Secure commu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nication</a:t>
            </a:r>
          </a:p>
          <a:p>
            <a:pPr algn="just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Reliable branch connectivity</a:t>
            </a:r>
          </a:p>
          <a:p>
            <a:pPr algn="just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High network availability</a:t>
            </a:r>
          </a:p>
          <a:p>
            <a:pPr algn="just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Improved performance</a:t>
            </a:r>
          </a:p>
          <a:p>
            <a:pPr algn="just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Scalability for future expansion</a:t>
            </a:r>
          </a:p>
          <a:p>
            <a:pPr algn="just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Enhanced security for financial transactions</a:t>
            </a:r>
          </a:p>
          <a:p>
            <a:pPr algn="just">
              <a:lnSpc>
                <a:spcPts val="3900"/>
              </a:lnSpc>
            </a:pP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K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ey Outcome</a:t>
            </a:r>
          </a:p>
          <a:p>
            <a:pPr algn="just">
              <a:lnSpc>
                <a:spcPts val="3900"/>
              </a:lnSpc>
            </a:pP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This solu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tion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 demons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trates how a well-designed WAN can i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mp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rove banking operations while supporting sec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ur</a:t>
            </a:r>
            <a:r>
              <a:rPr lang="en-US" sz="26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e, efficient, and sustainable digital infrastructure aligned with SDG 8.</a:t>
            </a:r>
          </a:p>
          <a:p>
            <a:pPr algn="just">
              <a:lnSpc>
                <a:spcPts val="33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371077" y="9465628"/>
            <a:ext cx="773608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0DDAA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013499" y="8852535"/>
            <a:ext cx="398676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Full Name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13499" y="8390255"/>
            <a:ext cx="398676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2022 May 15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93519" y="2923233"/>
            <a:ext cx="8028708" cy="255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3"/>
              </a:lnSpc>
            </a:pPr>
            <a:r>
              <a:rPr lang="en-US" sz="9893" b="true">
                <a:solidFill>
                  <a:srgbClr val="2D2D2D"/>
                </a:solidFill>
                <a:latin typeface="Fraunces Semi-Bold"/>
                <a:ea typeface="Fraunces Semi-Bold"/>
                <a:cs typeface="Fraunces Semi-Bold"/>
                <a:sym typeface="Fraunces Semi-Bold"/>
              </a:rPr>
              <a:t>Thank you</a:t>
            </a:r>
          </a:p>
          <a:p>
            <a:pPr algn="l">
              <a:lnSpc>
                <a:spcPts val="9893"/>
              </a:lnSpc>
            </a:pPr>
            <a:r>
              <a:rPr lang="en-US" sz="9893" b="true">
                <a:solidFill>
                  <a:srgbClr val="2D2D2D"/>
                </a:solidFill>
                <a:latin typeface="Fraunces Semi-Bold"/>
                <a:ea typeface="Fraunces Semi-Bold"/>
                <a:cs typeface="Fraunces Semi-Bold"/>
                <a:sym typeface="Fraunces Semi-Bold"/>
              </a:rPr>
              <a:t>for listening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93519" y="8390255"/>
            <a:ext cx="342816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For 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93519" y="8852535"/>
            <a:ext cx="342816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All-Purpose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5400000">
            <a:off x="13507075" y="5505392"/>
            <a:ext cx="6179809" cy="3382041"/>
          </a:xfrm>
          <a:custGeom>
            <a:avLst/>
            <a:gdLst/>
            <a:ahLst/>
            <a:cxnLst/>
            <a:rect r="r" b="b" t="t" l="l"/>
            <a:pathLst>
              <a:path h="3382041" w="6179809">
                <a:moveTo>
                  <a:pt x="0" y="0"/>
                </a:moveTo>
                <a:lnTo>
                  <a:pt x="6179809" y="0"/>
                </a:lnTo>
                <a:lnTo>
                  <a:pt x="6179809" y="3382041"/>
                </a:lnTo>
                <a:lnTo>
                  <a:pt x="0" y="3382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DAHOS-xY5nc</dc:identifier>
  <dcterms:modified xsi:type="dcterms:W3CDTF">2011-08-01T06:04:30Z</dcterms:modified>
  <cp:revision>1</cp:revision>
  <dc:title>CN CCE 05</dc:title>
</cp:coreProperties>
</file>